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CE25998-93D0-4C27-A670-EC7D5572C89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E3581D-5316-4A67-9732-A2218B8084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3B3B7-F8B5-4E7B-B486-4680F8AA7B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FFC4AD-BD1C-4CB7-8774-A72929A7DA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88BC38-1F43-48E1-B9E8-5ED9D3662E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991A81-2734-41AA-9625-7036EF4EE4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B664E2-C5F2-4263-907C-8C5D521216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595C69-F4BD-4E1B-8474-C059B93306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F15A76-CDA2-42F4-8232-7596F19DBB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39724D-6A60-4852-AF45-EF48508A6C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0FFC82-FB79-4BBD-A875-DE046E8A02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409E7-F54E-419F-BE74-C71A4D498DD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97DF0-8276-44D9-B04B-FB797D203C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17A70D-CEF0-4A03-8A15-5D4402CDFD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FEDEB3-AA49-4328-81CE-40863B7A37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1F7B1-FB89-477C-A612-333CD354F0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F8673-8967-4843-B5CB-D3635F7912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945AF6-8582-434C-93E2-70E0069FC0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AAD73B-7302-4E81-8FA7-9E7C443D6D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CE85B-479D-444D-B15A-3B25946045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1565D-0B82-4E94-800A-D000B790DB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mailto:r.debona@ufrj.br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" name="Image 0" descr="preencoded.png"/>
          <p:cNvPicPr/>
          <p:nvPr/>
        </p:nvPicPr>
        <p:blipFill>
          <a:blip r:embed="rId1"/>
          <a:stretch/>
        </p:blipFill>
        <p:spPr>
          <a:xfrm>
            <a:off x="3886200" y="548640"/>
            <a:ext cx="1371240" cy="1371240"/>
          </a:xfrm>
          <a:prstGeom prst="rect">
            <a:avLst/>
          </a:prstGeom>
          <a:ln w="0">
            <a:noFill/>
          </a:ln>
        </p:spPr>
      </p:pic>
      <p:sp>
        <p:nvSpPr>
          <p:cNvPr id="10" name="Text 1"/>
          <p:cNvSpPr/>
          <p:nvPr/>
        </p:nvSpPr>
        <p:spPr>
          <a:xfrm>
            <a:off x="457200" y="20116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rebuchet MS"/>
                <a:ea typeface="Trebuchet MS"/>
              </a:rPr>
              <a:t>CorticalFields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457200" y="27432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Calibri"/>
              </a:rPr>
              <a:t>Geodesic-aware GP normative modeling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Calibri"/>
              </a:rPr>
              <a:t>on cortical surfaces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57200" y="3732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fa5"/>
                </a:solidFill>
                <a:latin typeface="Calibri"/>
                <a:ea typeface="Calibri"/>
              </a:rPr>
              <a:t>Rodrigo Debona, M.D.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57200" y="4134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Instituto Nacional de Neurociência Translacional (INNT) </a:t>
            </a:r>
            <a:endParaRPr b="1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Universidade Federal do Rio de Janeiro (UFRJ)</a:t>
            </a:r>
            <a:endParaRPr b="1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Image 1" descr="preencoded.png"/>
          <p:cNvPicPr/>
          <p:nvPr/>
        </p:nvPicPr>
        <p:blipFill>
          <a:blip r:embed="rId2"/>
          <a:stretch/>
        </p:blipFill>
        <p:spPr>
          <a:xfrm>
            <a:off x="3474720" y="457200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5" name="Text 5"/>
          <p:cNvSpPr/>
          <p:nvPr/>
        </p:nvSpPr>
        <p:spPr>
          <a:xfrm>
            <a:off x="3749040" y="45720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github.com/rdneuro/corticalfields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93b"/>
                </a:solidFill>
                <a:latin typeface="Trebuchet MS"/>
                <a:ea typeface="Trebuchet MS"/>
              </a:rPr>
              <a:t>The Clinical Problem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457200" y="1097280"/>
            <a:ext cx="25599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57200" y="123444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6c63ff"/>
                </a:solidFill>
                <a:latin typeface="Trebuchet MS"/>
                <a:ea typeface="Trebuchet MS"/>
              </a:rPr>
              <a:t>~50M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57200" y="201168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people with epilepsy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worldwide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3291840" y="1097280"/>
            <a:ext cx="25599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3291840" y="123444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6b6b"/>
                </a:solidFill>
                <a:latin typeface="Trebuchet MS"/>
                <a:ea typeface="Trebuchet MS"/>
              </a:rPr>
              <a:t>30-50%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3291840" y="201168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develop psychiatric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comorbidities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6126480" y="1097280"/>
            <a:ext cx="25599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126480" y="123444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bfa5"/>
                </a:solidFill>
                <a:latin typeface="Trebuchet MS"/>
                <a:ea typeface="Trebuchet MS"/>
              </a:rPr>
              <a:t>MTLE-HS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6126480" y="201168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most common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surgical epilepsy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457200" y="3291840"/>
            <a:ext cx="8229240" cy="12798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731520" y="347472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bd5e1"/>
                </a:solidFill>
                <a:latin typeface="Calibri"/>
                <a:ea typeface="Calibri"/>
              </a:rPr>
              <a:t>The question: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Can cortical morphology predict anxiety and depression in MTLE-HS?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731520" y="402336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Standard thickness analysis misses subtle geometric changes in distant cortical networks.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93b"/>
                </a:solidFill>
                <a:latin typeface="Trebuchet MS"/>
                <a:ea typeface="Trebuchet MS"/>
              </a:rPr>
              <a:t>Why Current Methods Fall Short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457200" y="1005840"/>
            <a:ext cx="822924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57200" y="1005840"/>
            <a:ext cx="54360" cy="105120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0" descr="preencoded.png"/>
          <p:cNvPicPr/>
          <p:nvPr/>
        </p:nvPicPr>
        <p:blipFill>
          <a:blip r:embed="rId1"/>
          <a:stretch/>
        </p:blipFill>
        <p:spPr>
          <a:xfrm>
            <a:off x="731520" y="123444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5" name="Text 3"/>
          <p:cNvSpPr/>
          <p:nvPr/>
        </p:nvSpPr>
        <p:spPr>
          <a:xfrm>
            <a:off x="1463040" y="109728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Trebuchet MS"/>
                <a:ea typeface="Trebuchet MS"/>
              </a:rPr>
              <a:t>VBM / FreeSurfer ROIs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1463040" y="15087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Local measurements only — misses multi-scale geometry and network-level patterns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5"/>
          <p:cNvSpPr/>
          <p:nvPr/>
        </p:nvSpPr>
        <p:spPr>
          <a:xfrm>
            <a:off x="457200" y="2240280"/>
            <a:ext cx="822924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457200" y="2240280"/>
            <a:ext cx="54360" cy="105120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1" descr="preencoded.png"/>
          <p:cNvPicPr/>
          <p:nvPr/>
        </p:nvPicPr>
        <p:blipFill>
          <a:blip r:embed="rId2"/>
          <a:stretch/>
        </p:blipFill>
        <p:spPr>
          <a:xfrm>
            <a:off x="731520" y="2468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0" name="Text 7"/>
          <p:cNvSpPr/>
          <p:nvPr/>
        </p:nvSpPr>
        <p:spPr>
          <a:xfrm>
            <a:off x="1463040" y="233172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Trebuchet MS"/>
                <a:ea typeface="Trebuchet MS"/>
              </a:rPr>
              <a:t>Standard z-scores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1463040" y="274320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Assume vertex independence — ignores spatial covariance along the cortical manifold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457200" y="3474720"/>
            <a:ext cx="822924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457200" y="3474720"/>
            <a:ext cx="54360" cy="105120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2" descr="preencoded.png"/>
          <p:cNvPicPr/>
          <p:nvPr/>
        </p:nvPicPr>
        <p:blipFill>
          <a:blip r:embed="rId3"/>
          <a:stretch/>
        </p:blipFill>
        <p:spPr>
          <a:xfrm>
            <a:off x="731520" y="37033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Text 11"/>
          <p:cNvSpPr/>
          <p:nvPr/>
        </p:nvSpPr>
        <p:spPr>
          <a:xfrm>
            <a:off x="1463040" y="356616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93b"/>
                </a:solidFill>
                <a:latin typeface="Trebuchet MS"/>
                <a:ea typeface="Trebuchet MS"/>
              </a:rPr>
              <a:t>No geodesic awareness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1463040" y="39776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Euclidean distance ≠ cortical distance — atrophy propagates along gyral folds, not through air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457200" y="45720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  <a:ea typeface="Calibri"/>
              </a:rPr>
              <a:t>CorticalFields addresses all three.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457200" y="3657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51" name="Text 1"/>
          <p:cNvSpPr/>
          <p:nvPr/>
        </p:nvSpPr>
        <p:spPr>
          <a:xfrm>
            <a:off x="1097280" y="3200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rebuchet MS"/>
                <a:ea typeface="Trebuchet MS"/>
              </a:rPr>
              <a:t>What is CorticalFields?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457200" y="1005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bd5e1"/>
                </a:solidFill>
                <a:latin typeface="Calibri"/>
                <a:ea typeface="Calibri"/>
              </a:rPr>
              <a:t>A Python library for geodesic-aware normative modeling on cortical surfaces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457200" y="1554480"/>
            <a:ext cx="2559960" cy="1279800"/>
          </a:xfrm>
          <a:prstGeom prst="rect">
            <a:avLst/>
          </a:prstGeom>
          <a:solidFill>
            <a:srgbClr val="1e1e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457200" y="1554480"/>
            <a:ext cx="2559960" cy="363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2"/>
          <a:stretch/>
        </p:blipFill>
        <p:spPr>
          <a:xfrm>
            <a:off x="594360" y="17373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56" name="Text 5"/>
          <p:cNvSpPr/>
          <p:nvPr/>
        </p:nvSpPr>
        <p:spPr>
          <a:xfrm>
            <a:off x="1051560" y="16916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surface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594360" y="21945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Surface I/O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(FreeSurfer, GIfTI)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3291840" y="1554480"/>
            <a:ext cx="2559960" cy="1279800"/>
          </a:xfrm>
          <a:prstGeom prst="rect">
            <a:avLst/>
          </a:prstGeom>
          <a:solidFill>
            <a:srgbClr val="1e1e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3291840" y="1554480"/>
            <a:ext cx="2559960" cy="3636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Image 2" descr="preencoded.png"/>
          <p:cNvPicPr/>
          <p:nvPr/>
        </p:nvPicPr>
        <p:blipFill>
          <a:blip r:embed="rId3"/>
          <a:stretch/>
        </p:blipFill>
        <p:spPr>
          <a:xfrm>
            <a:off x="3429000" y="17373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61" name="Text 9"/>
          <p:cNvSpPr/>
          <p:nvPr/>
        </p:nvSpPr>
        <p:spPr>
          <a:xfrm>
            <a:off x="3886200" y="16916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spectral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3429000" y="21945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Laplace-Beltrami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HKS, WKS, GPS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6126480" y="1554480"/>
            <a:ext cx="2559960" cy="1279800"/>
          </a:xfrm>
          <a:prstGeom prst="rect">
            <a:avLst/>
          </a:prstGeom>
          <a:solidFill>
            <a:srgbClr val="1e1e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6126480" y="1554480"/>
            <a:ext cx="2559960" cy="36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Image 3" descr="preencoded.png"/>
          <p:cNvPicPr/>
          <p:nvPr/>
        </p:nvPicPr>
        <p:blipFill>
          <a:blip r:embed="rId4"/>
          <a:stretch/>
        </p:blipFill>
        <p:spPr>
          <a:xfrm>
            <a:off x="6263640" y="17373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66" name="Text 13"/>
          <p:cNvSpPr/>
          <p:nvPr/>
        </p:nvSpPr>
        <p:spPr>
          <a:xfrm>
            <a:off x="6720840" y="16916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kernels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6263640" y="21945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Spectral Matérn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GP kernel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457200" y="3108960"/>
            <a:ext cx="2559960" cy="1279800"/>
          </a:xfrm>
          <a:prstGeom prst="rect">
            <a:avLst/>
          </a:prstGeom>
          <a:solidFill>
            <a:srgbClr val="1e1e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457200" y="3108960"/>
            <a:ext cx="2559960" cy="3636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4" descr="preencoded.png"/>
          <p:cNvPicPr/>
          <p:nvPr/>
        </p:nvPicPr>
        <p:blipFill>
          <a:blip r:embed="rId5"/>
          <a:stretch/>
        </p:blipFill>
        <p:spPr>
          <a:xfrm>
            <a:off x="594360" y="3291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71" name="Text 17"/>
          <p:cNvSpPr/>
          <p:nvPr/>
        </p:nvSpPr>
        <p:spPr>
          <a:xfrm>
            <a:off x="1051560" y="32461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normative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594360" y="37490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SVGP normative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modeling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3291840" y="3108960"/>
            <a:ext cx="2559960" cy="1279800"/>
          </a:xfrm>
          <a:prstGeom prst="rect">
            <a:avLst/>
          </a:prstGeom>
          <a:solidFill>
            <a:srgbClr val="1e1e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3291840" y="3108960"/>
            <a:ext cx="2559960" cy="363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Image 5" descr="preencoded.png"/>
          <p:cNvPicPr/>
          <p:nvPr/>
        </p:nvPicPr>
        <p:blipFill>
          <a:blip r:embed="rId6"/>
          <a:stretch/>
        </p:blipFill>
        <p:spPr>
          <a:xfrm>
            <a:off x="3429000" y="3291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76" name="Text 21"/>
          <p:cNvSpPr/>
          <p:nvPr/>
        </p:nvSpPr>
        <p:spPr>
          <a:xfrm>
            <a:off x="3886200" y="32461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surprise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3429000" y="37490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Anomaly maps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−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log p(y|model)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6126480" y="3108960"/>
            <a:ext cx="2559960" cy="1279800"/>
          </a:xfrm>
          <a:prstGeom prst="rect">
            <a:avLst/>
          </a:prstGeom>
          <a:solidFill>
            <a:srgbClr val="1e1e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6126480" y="3108960"/>
            <a:ext cx="2559960" cy="3636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Image 6" descr="preencoded.png"/>
          <p:cNvPicPr/>
          <p:nvPr/>
        </p:nvPicPr>
        <p:blipFill>
          <a:blip r:embed="rId7"/>
          <a:stretch/>
        </p:blipFill>
        <p:spPr>
          <a:xfrm>
            <a:off x="6263640" y="3291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81" name="Text 25"/>
          <p:cNvSpPr/>
          <p:nvPr/>
        </p:nvSpPr>
        <p:spPr>
          <a:xfrm>
            <a:off x="6720840" y="32461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graphs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6263640" y="37490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MSN + SSN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network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7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93b"/>
                </a:solidFill>
                <a:latin typeface="Trebuchet MS"/>
                <a:ea typeface="Trebuchet MS"/>
              </a:rPr>
              <a:t>The Spectral Framework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457200" y="1005840"/>
            <a:ext cx="8229240" cy="10969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457200" y="10515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0bfa5"/>
                </a:solidFill>
                <a:latin typeface="Consolas"/>
                <a:ea typeface="Consolas"/>
              </a:rPr>
              <a:t>Δg φi = λi φi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457200" y="1600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Laplace-Beltrami operator on the cortical manifold — the "DNA" of surface geometry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457200" y="2377440"/>
            <a:ext cx="2559960" cy="2377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457200" y="2377440"/>
            <a:ext cx="2559960" cy="363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457200" y="25146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6c63ff"/>
                </a:solidFill>
                <a:latin typeface="Trebuchet MS"/>
                <a:ea typeface="Trebuchet MS"/>
              </a:rPr>
              <a:t>HKS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457200" y="28803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Heat Kernel Signature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594360" y="32004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Multi-scale curvature via heat diffusion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548640" y="3931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onsolas"/>
                <a:ea typeface="Consolas"/>
              </a:rPr>
              <a:t>h(x,t) = Σ exp(−λᵢt) · φᵢ(x)²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3291840" y="2377440"/>
            <a:ext cx="2559960" cy="2377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3291840" y="2377440"/>
            <a:ext cx="2559960" cy="3636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3291840" y="25146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bfa5"/>
                </a:solidFill>
                <a:latin typeface="Trebuchet MS"/>
                <a:ea typeface="Trebuchet MS"/>
              </a:rPr>
              <a:t>WKS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3291840" y="28803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Wave Kernel Signature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3429000" y="32004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Frequency decomposition of folding patterns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3383280" y="3931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onsolas"/>
                <a:ea typeface="Consolas"/>
              </a:rPr>
              <a:t>w(x,e) = Σ exp(−(e−log λᵢ)²/2σ²) · φᵢ(x)²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6126480" y="2377440"/>
            <a:ext cx="2559960" cy="2377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6126480" y="2377440"/>
            <a:ext cx="2559960" cy="36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6126480" y="25146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Trebuchet MS"/>
                <a:ea typeface="Trebuchet MS"/>
              </a:rPr>
              <a:t>GPS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6126480" y="28803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Global Point Signature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6263640" y="32004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Intrinsic coordinate system on the manifold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6217920" y="3931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onsolas"/>
                <a:ea typeface="Consolas"/>
              </a:rPr>
              <a:t>GPS(x) = (φ₁(x)/√λ₁, ..., φₖ(x)/√λₖ)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93b"/>
                </a:solidFill>
                <a:latin typeface="Trebuchet MS"/>
                <a:ea typeface="Trebuchet MS"/>
              </a:rPr>
              <a:t>Why Spectral &gt; Classical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457200" y="1005840"/>
            <a:ext cx="384012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4846320" y="1005840"/>
            <a:ext cx="384012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457200" y="1005840"/>
            <a:ext cx="3840120" cy="45684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57200" y="10058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Classical Morphometrics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731520" y="164592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4a3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Thickness, curvature, sulcal depth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4a3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Local measurements at each vertex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4a3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Scale-dependent (one resolution)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4a3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Ignores geodesic relationships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4a3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VBM / ROI averaging loses detail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4846320" y="1005840"/>
            <a:ext cx="3840120" cy="45684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4846320" y="10058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Spectral</a:t>
            </a: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 Descriptors (CorticalFields)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5120640" y="164592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42D feature vector per vertex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Multi-scale: local → global geometry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Intrinsically multi-resolution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Geodesic-aware by construction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Captures folding pattern changes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rebuchet MS"/>
                <a:ea typeface="Trebuchet MS"/>
              </a:rPr>
              <a:t>The Spectral Matérn Kernel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45720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Borovitskiy et al., NeurIPS 2020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914400" y="1280160"/>
            <a:ext cx="7314840" cy="91404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914400" y="12801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59e0b"/>
                </a:solidFill>
                <a:latin typeface="Consolas"/>
                <a:ea typeface="Consolas"/>
              </a:rPr>
              <a:t>k(x,y) = σ² · Σᵢ Sν(λᵢ) · φᵢ(x) · φᵢ(y)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914400" y="18288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Sν(λ) = (2ν/κ² + λ)^(−ν−d/2)    — spectral density of Matérn class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457200" y="2468880"/>
            <a:ext cx="8229240" cy="68544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457200" y="2468880"/>
            <a:ext cx="54360" cy="68544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731520" y="246888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bfa5"/>
                </a:solidFill>
                <a:latin typeface="Trebuchet MS"/>
                <a:ea typeface="Trebuchet MS"/>
              </a:rPr>
              <a:t>Geodesic-aware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2560320" y="2468880"/>
            <a:ext cx="5943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Covariance decays along cortical surface distance, not Euclidean. Two points across a sulcus may be spatially close but geodesically far.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457200" y="3291840"/>
            <a:ext cx="8229240" cy="68544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457200" y="3291840"/>
            <a:ext cx="54360" cy="68544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731520" y="329184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c63ff"/>
                </a:solidFill>
                <a:latin typeface="Trebuchet MS"/>
                <a:ea typeface="Trebuchet MS"/>
              </a:rPr>
              <a:t>Scalable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2560320" y="3291840"/>
            <a:ext cx="5943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Truncated spectral expansion (L ≤ 300 eigenpairs) reduces kernel evaluation from O(N²) to O(L). Full mesh inference becomes tractable.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457200" y="4114800"/>
            <a:ext cx="8229240" cy="68544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5"/>
          <p:cNvSpPr/>
          <p:nvPr/>
        </p:nvSpPr>
        <p:spPr>
          <a:xfrm>
            <a:off x="457200" y="4114800"/>
            <a:ext cx="54360" cy="6854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731520" y="411480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Trebuchet MS"/>
                <a:ea typeface="Trebuchet MS"/>
              </a:rPr>
              <a:t>Tunable smoothness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2560320" y="4114800"/>
            <a:ext cx="5943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Matérn ν controls differentiability: ν=0.5 rough (Laplacian), ν=1.5 once, ν=2.5 twice differentiable. We use ν=2.5.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7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93b"/>
                </a:solidFill>
                <a:latin typeface="Trebuchet MS"/>
                <a:ea typeface="Trebuchet MS"/>
              </a:rPr>
              <a:t>Normative Modeling Pipeline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457200" y="1005840"/>
            <a:ext cx="39315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94360" y="1234440"/>
            <a:ext cx="502560" cy="502560"/>
          </a:xfrm>
          <a:prstGeom prst="ellipse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594360" y="1234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1234440" y="10972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Reference cohort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1234440" y="140076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Healthy adults (ds000221 random subset, n≈40) → FreeSurfer/FastSurfer to obtain surfaces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4754880" y="1005840"/>
            <a:ext cx="39315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4892040" y="1234440"/>
            <a:ext cx="502560" cy="502560"/>
          </a:xfrm>
          <a:prstGeom prst="ellipse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4892040" y="1234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5532120" y="10972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LB eigenpairs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5532120" y="140076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Calculate </a:t>
            </a: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300 eigenpairs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 on </a:t>
            </a: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fsaverage mesh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discover the shared spectral basis in the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457200" y="2286000"/>
            <a:ext cx="39315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594360" y="2514600"/>
            <a:ext cx="502560" cy="5025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594360" y="25146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123444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Train Spectral Matérn GP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1234440" y="26809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Sparse Variational GP (512 steps) on feature vs vertex  [</a:t>
            </a: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±10m running on a NVIDIA RTX3090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4754880" y="2286000"/>
            <a:ext cx="39315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4892040" y="2514600"/>
            <a:ext cx="502560" cy="50256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4892040" y="25146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553212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Patient prediction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5532120" y="26809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Obtains the Posterior predictive: </a:t>
            </a: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p(y*|x*, D) = N(μ*, σ²*)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 at every vertex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1"/>
          <p:cNvSpPr/>
          <p:nvPr/>
        </p:nvSpPr>
        <p:spPr>
          <a:xfrm>
            <a:off x="457200" y="3566160"/>
            <a:ext cx="39315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594360" y="3794760"/>
            <a:ext cx="502560" cy="502560"/>
          </a:xfrm>
          <a:prstGeom prst="ellipse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3"/>
          <p:cNvSpPr/>
          <p:nvPr/>
        </p:nvSpPr>
        <p:spPr>
          <a:xfrm>
            <a:off x="594360" y="3794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rebuchet MS"/>
                <a:ea typeface="Trebuchet M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1234440" y="3657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Surprise map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5"/>
          <p:cNvSpPr/>
          <p:nvPr/>
        </p:nvSpPr>
        <p:spPr>
          <a:xfrm>
            <a:off x="1234440" y="39610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S(x) = −log p(y_obs | model)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 — calculates the vertex-wise anomaly score [“surprise”]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6"/>
          <p:cNvSpPr/>
          <p:nvPr/>
        </p:nvSpPr>
        <p:spPr>
          <a:xfrm>
            <a:off x="4754880" y="3566160"/>
            <a:ext cx="39315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7"/>
          <p:cNvSpPr/>
          <p:nvPr/>
        </p:nvSpPr>
        <p:spPr>
          <a:xfrm>
            <a:off x="4892040" y="3794760"/>
            <a:ext cx="502560" cy="502560"/>
          </a:xfrm>
          <a:prstGeom prst="ellipse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8"/>
          <p:cNvSpPr/>
          <p:nvPr/>
        </p:nvSpPr>
        <p:spPr>
          <a:xfrm>
            <a:off x="4892040" y="3794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rebuchet MS"/>
                <a:ea typeface="Trebuchet MS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9"/>
          <p:cNvSpPr/>
          <p:nvPr/>
        </p:nvSpPr>
        <p:spPr>
          <a:xfrm>
            <a:off x="5532120" y="3657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Network aggregation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30"/>
          <p:cNvSpPr/>
          <p:nvPr/>
        </p:nvSpPr>
        <p:spPr>
          <a:xfrm>
            <a:off x="5532120" y="3961080"/>
            <a:ext cx="292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Aggregation by Schaefer-200 with 7 Networks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inference of the network-level anomaly profile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457200" y="4771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  <a:ea typeface="Calibri"/>
              </a:rPr>
              <a:t>→ </a:t>
            </a:r>
            <a:r>
              <a:rPr b="1" lang="en-US" sz="1100" spc="-1" strike="noStrike">
                <a:solidFill>
                  <a:srgbClr val="6c63ff"/>
                </a:solidFill>
                <a:latin typeface="Calibri"/>
                <a:ea typeface="Calibri"/>
              </a:rPr>
              <a:t>Each step is one function call in the CorticalFields API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32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rebuchet MS"/>
                <a:ea typeface="Trebuchet MS"/>
              </a:rPr>
              <a:t>Surprise Maps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45720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Information-theoretic anomaly detection on the cortical manifold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1371600" y="1280160"/>
            <a:ext cx="6400440" cy="73116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1371600" y="132588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6b6b"/>
                </a:solidFill>
                <a:latin typeface="Consolas"/>
                <a:ea typeface="Consolas"/>
              </a:rPr>
              <a:t>S(x) = ½ log(2π σ²(x)) + (y_obs − μ(x))² / (2σ²(x))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457200" y="2286000"/>
            <a:ext cx="8229240" cy="73116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457200" y="2286000"/>
            <a:ext cx="54360" cy="73116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731520" y="228600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fa5"/>
                </a:solidFill>
                <a:latin typeface="Trebuchet MS"/>
                <a:ea typeface="Trebuchet MS"/>
              </a:rPr>
              <a:t>Uncertainty-aware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2743200" y="228600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Unlike z-scores, surprise includes the </a:t>
            </a:r>
            <a:r>
              <a:rPr b="1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model's confidence (σ²)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. High uncertainty + moderate deviation → moderate surprise. Low uncertainty + moderate deviation → HIGH surprise.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457200" y="3154680"/>
            <a:ext cx="8229240" cy="73116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457200" y="3154680"/>
            <a:ext cx="54360" cy="7311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731520" y="315468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c63ff"/>
                </a:solidFill>
                <a:latin typeface="Trebuchet MS"/>
                <a:ea typeface="Trebuchet MS"/>
              </a:rPr>
              <a:t>Multi-feature fusion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2743200" y="315468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Fisher's method combines surprise across features (thickness + curvature + sulcal depth) into a </a:t>
            </a:r>
            <a:r>
              <a:rPr b="1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single anomaly score per vertex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457200" y="4023360"/>
            <a:ext cx="8229240" cy="73116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457200" y="4023360"/>
            <a:ext cx="54360" cy="7311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731520" y="402336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Trebuchet MS"/>
                <a:ea typeface="Trebuchet MS"/>
              </a:rPr>
              <a:t>Bayesian anomaly probability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2743200" y="402336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Two-component mixture model: </a:t>
            </a:r>
            <a:r>
              <a:rPr b="1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p(anomalous | y)</a:t>
            </a: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 via posterior update.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5% prior → data-driven posterior.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9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93b"/>
                </a:solidFill>
                <a:latin typeface="Trebuchet MS"/>
                <a:ea typeface="Trebuchet MS"/>
              </a:rPr>
              <a:t>Graph Analysis: MSN + SSN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457200" y="1005840"/>
            <a:ext cx="384012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57200" y="1005840"/>
            <a:ext cx="3840120" cy="45684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57200" y="10058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Trebuchet MS"/>
                <a:ea typeface="Trebuchet MS"/>
              </a:rPr>
              <a:t>MSN — Morphometric Similarity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57200" y="15544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Seidlitz et al., Neuron 2018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31520" y="1920240"/>
            <a:ext cx="32914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ROI profile = [thickness, curv, sulc]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Edge weight = Pearson correlation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Fisher z-transform → similarity matrix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Graph metrics via NetworkX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4846320" y="1005840"/>
            <a:ext cx="384012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4846320" y="1005840"/>
            <a:ext cx="3840120" cy="45684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4846320" y="10058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Trebuchet MS"/>
                <a:ea typeface="Trebuchet MS"/>
              </a:rPr>
              <a:t>SSN — Spectral Similarity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4846320" y="15544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c63ff"/>
                </a:solidFill>
                <a:latin typeface="Calibri"/>
                <a:ea typeface="Calibri"/>
              </a:rPr>
              <a:t>Novel — enabled by CorticalFields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120640" y="1920240"/>
            <a:ext cx="3566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ROI profile = [HKS₁...₁₆, WKS₁...₁₆, GPS₁...₁₀]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42D </a:t>
            </a:r>
            <a:r>
              <a:rPr b="1" i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geometric signature</a:t>
            </a: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 per region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Cosine similarity → </a:t>
            </a:r>
            <a:r>
              <a:rPr b="1" i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spectral connectome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Captures </a:t>
            </a:r>
            <a:r>
              <a:rPr b="1" lang="en-US" sz="1100" spc="-1" strike="noStrike" u="sng">
                <a:solidFill>
                  <a:srgbClr val="1e293b"/>
                </a:solidFill>
                <a:uFillTx/>
                <a:latin typeface="Calibri"/>
                <a:ea typeface="Calibri"/>
              </a:rPr>
              <a:t>shape similarity</a:t>
            </a: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, not just metrics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457200" y="4480560"/>
            <a:ext cx="8229240" cy="45684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457200" y="4480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Both produce Schaefer-200 adjacency matrices → applies standard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graph-theoretic metrics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2" name="Image 0" descr="preencoded.png"/>
          <p:cNvPicPr/>
          <p:nvPr/>
        </p:nvPicPr>
        <p:blipFill>
          <a:blip r:embed="rId1"/>
          <a:stretch/>
        </p:blipFill>
        <p:spPr>
          <a:xfrm>
            <a:off x="457200" y="3200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203" name="Text 1"/>
          <p:cNvSpPr/>
          <p:nvPr/>
        </p:nvSpPr>
        <p:spPr>
          <a:xfrm>
            <a:off x="1005840" y="2743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rebuchet MS"/>
                <a:ea typeface="Trebuchet MS"/>
              </a:rPr>
              <a:t>API: 6 Lines to a Surprise Map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457200" y="1005840"/>
            <a:ext cx="8229240" cy="338292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731520" y="1097280"/>
            <a:ext cx="77720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import corticalfields as cf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Load surface + compute spectral decomposition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surf = cf.load_freesurfer_surface(sd, sub, 'lh', 'pial')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lb   = cf.spectral.compute_eigenpairs(surf.vertices, surf.faces)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Train normative model on healthy cohort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model = cf.CorticalNormativeModel(lb=lb, nu=2.5)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model.fit(population_thickness, 'thickness')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Predict on patient → surprise map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results     = model.predict(patient_thickness)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bfa5"/>
                </a:solidFill>
                <a:latin typeface="Consolas"/>
                <a:ea typeface="Consolas"/>
              </a:rPr>
              <a:t>surprisemap = cf.compute_surprise(results.observed, results.mean, results.variance)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457200" y="45720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Full pipeline → surface loading through anomaly scoring, in a single clean API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3"/>
          <p:cNvSpPr/>
          <p:nvPr/>
        </p:nvSpPr>
        <p:spPr>
          <a:xfrm>
            <a:off x="7038000" y="4150800"/>
            <a:ext cx="16488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 </a:t>
            </a: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[</a:t>
            </a: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Python 3.13.12</a:t>
            </a: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93b"/>
                </a:solidFill>
                <a:latin typeface="Trebuchet MS"/>
                <a:ea typeface="Trebuchet MS"/>
              </a:rPr>
              <a:t>MTLE-HS versus Affective Symptomns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457200" y="1005840"/>
            <a:ext cx="822924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731520" y="11430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Trebuchet MS"/>
                <a:ea typeface="Trebuchet MS"/>
              </a:rPr>
              <a:t>Patients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2377440" y="11430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46 MTLE-HS (CEPESC)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731520" y="15087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fa5"/>
                </a:solidFill>
                <a:latin typeface="Trebuchet MS"/>
                <a:ea typeface="Trebuchet MS"/>
              </a:rPr>
              <a:t>Controls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2377440" y="150876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~40 healthy adults (OpenNeuro ds000221)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731520" y="18745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c63ff"/>
                </a:solidFill>
                <a:latin typeface="Trebuchet MS"/>
                <a:ea typeface="Trebuchet MS"/>
              </a:rPr>
              <a:t>Outcomes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2377440" y="187452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HADS-A &amp; HADS-D scores (</a:t>
            </a:r>
            <a:r>
              <a:rPr b="0" i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only for the MTLE-HS patients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731520" y="22402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Trebuchet MS"/>
                <a:ea typeface="Trebuchet MS"/>
              </a:rPr>
              <a:t>Features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2377440" y="22402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Lateralized Yeo-7 network thickness (IHS/CHS)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731520" y="2606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Trebuchet MS"/>
                <a:ea typeface="Trebuchet MS"/>
              </a:rPr>
              <a:t>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2377440" y="260604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CorticalFields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Bayesian horseshoe regression plus normative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2"/>
          <p:cNvSpPr/>
          <p:nvPr/>
        </p:nvSpPr>
        <p:spPr>
          <a:xfrm>
            <a:off x="457200" y="3291840"/>
            <a:ext cx="255996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3"/>
          <p:cNvSpPr/>
          <p:nvPr/>
        </p:nvSpPr>
        <p:spPr>
          <a:xfrm>
            <a:off x="457200" y="3291840"/>
            <a:ext cx="2559960" cy="3636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457200" y="342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6b6b"/>
                </a:solidFill>
                <a:latin typeface="Trebuchet MS"/>
                <a:ea typeface="Trebuchet MS"/>
              </a:rPr>
              <a:t>Group 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457200" y="3722760"/>
            <a:ext cx="2514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 u="sng">
                <a:solidFill>
                  <a:srgbClr val="94a3b8"/>
                </a:solidFill>
                <a:uFillTx/>
                <a:latin typeface="Calibri"/>
                <a:ea typeface="Calibri"/>
              </a:rPr>
              <a:t>Stability Selection</a:t>
            </a: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 → </a:t>
            </a: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Horseshoe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[</a:t>
            </a: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DK ROI level</a:t>
            </a: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6"/>
          <p:cNvSpPr/>
          <p:nvPr/>
        </p:nvSpPr>
        <p:spPr>
          <a:xfrm>
            <a:off x="3291840" y="3291840"/>
            <a:ext cx="255996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3291840" y="3291840"/>
            <a:ext cx="2559960" cy="3636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8"/>
          <p:cNvSpPr/>
          <p:nvPr/>
        </p:nvSpPr>
        <p:spPr>
          <a:xfrm>
            <a:off x="3291840" y="342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fa5"/>
                </a:solidFill>
                <a:latin typeface="Trebuchet MS"/>
                <a:ea typeface="Trebuchet MS"/>
              </a:rPr>
              <a:t>Group 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9"/>
          <p:cNvSpPr/>
          <p:nvPr/>
        </p:nvSpPr>
        <p:spPr>
          <a:xfrm>
            <a:off x="3429000" y="372276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 u="sng">
                <a:solidFill>
                  <a:srgbClr val="94a3b8"/>
                </a:solidFill>
                <a:uFillTx/>
                <a:latin typeface="Calibri"/>
                <a:ea typeface="Calibri"/>
              </a:rPr>
              <a:t>PCA</a:t>
            </a: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 → </a:t>
            </a: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Horseshoe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[</a:t>
            </a: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dimensionality reduction</a:t>
            </a: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0"/>
          <p:cNvSpPr/>
          <p:nvPr/>
        </p:nvSpPr>
        <p:spPr>
          <a:xfrm>
            <a:off x="6126480" y="3291840"/>
            <a:ext cx="255996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1"/>
          <p:cNvSpPr/>
          <p:nvPr/>
        </p:nvSpPr>
        <p:spPr>
          <a:xfrm>
            <a:off x="6126480" y="3291840"/>
            <a:ext cx="2559960" cy="363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6126480" y="342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c63ff"/>
                </a:solidFill>
                <a:latin typeface="Trebuchet MS"/>
                <a:ea typeface="Trebuchet MS"/>
              </a:rPr>
              <a:t>Group 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6126480" y="372276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 u="sng">
                <a:solidFill>
                  <a:srgbClr val="94a3b8"/>
                </a:solidFill>
                <a:uFillTx/>
                <a:latin typeface="Calibri"/>
                <a:ea typeface="Calibri"/>
              </a:rPr>
              <a:t>Yeo-7 Networks</a:t>
            </a: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 → </a:t>
            </a: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Horseshoe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[</a:t>
            </a: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functional network level</a:t>
            </a: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4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Trebuchet MS"/>
                <a:ea typeface="Trebuchet MS"/>
              </a:rPr>
              <a:t>Results: Yeo-7 Network Effects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Radar + forest plot — ipsilateral vs contralateral to HS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731520" y="1280160"/>
            <a:ext cx="7680600" cy="2925720"/>
          </a:xfrm>
          <a:prstGeom prst="rect">
            <a:avLst/>
          </a:prstGeom>
          <a:solidFill>
            <a:srgbClr val="f1f5f9"/>
          </a:solidFill>
          <a:ln w="25400">
            <a:solidFill>
              <a:srgbClr val="6c63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731520" y="210312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c63ff"/>
                </a:solidFill>
                <a:latin typeface="Calibri"/>
                <a:ea typeface="Calibri"/>
              </a:rPr>
              <a:t>[INSERT RADAR + FOREST PLOT HERE]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731520" y="43891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Which networks show ipsilateral thinning that predicts anxiety/depression?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Trebuchet MS"/>
                <a:ea typeface="Trebuchet MS"/>
              </a:rPr>
              <a:t>Results: Surprise Maps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45720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Vertex-wise anomaly scores — cortical surface visualization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731520" y="1280160"/>
            <a:ext cx="7680600" cy="2925720"/>
          </a:xfrm>
          <a:prstGeom prst="rect">
            <a:avLst/>
          </a:prstGeom>
          <a:solidFill>
            <a:srgbClr val="f1f5f9"/>
          </a:solidFill>
          <a:ln w="25400">
            <a:solidFill>
              <a:srgbClr val="6c63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731520" y="210312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c63ff"/>
                </a:solidFill>
                <a:latin typeface="Calibri"/>
                <a:ea typeface="Calibri"/>
              </a:rPr>
              <a:t>[INSERT BRAIN SURFACE MAPS HERE]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731520" y="43891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Where do MTLE-HS patients deviate most from the normative model?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Trebuchet MS"/>
                <a:ea typeface="Trebuchet MS"/>
              </a:rPr>
              <a:t>Results: MSN/SSN Disruption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45720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Graph metrics — MTLE-HS vs healthy controls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"/>
          <p:cNvSpPr/>
          <p:nvPr/>
        </p:nvSpPr>
        <p:spPr>
          <a:xfrm>
            <a:off x="731520" y="1280160"/>
            <a:ext cx="7680600" cy="2925720"/>
          </a:xfrm>
          <a:prstGeom prst="rect">
            <a:avLst/>
          </a:prstGeom>
          <a:solidFill>
            <a:srgbClr val="f1f5f9"/>
          </a:solidFill>
          <a:ln w="25400">
            <a:solidFill>
              <a:srgbClr val="6c63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731520" y="210312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c63ff"/>
                </a:solidFill>
                <a:latin typeface="Calibri"/>
                <a:ea typeface="Calibri"/>
              </a:rPr>
              <a:t>[INSERT GRAPH COMPARISON FIGURE HERE]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731520" y="43891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Which network hubs lose morphometric/spectral similarity?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Trebuchet MS"/>
                <a:ea typeface="Trebuchet MS"/>
              </a:rPr>
              <a:t>Results: LOO Model Comparison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45720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Bayesian model comparison across all analysis groups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731520" y="1280160"/>
            <a:ext cx="7680600" cy="2925720"/>
          </a:xfrm>
          <a:prstGeom prst="rect">
            <a:avLst/>
          </a:prstGeom>
          <a:solidFill>
            <a:srgbClr val="f1f5f9"/>
          </a:solidFill>
          <a:ln w="25400">
            <a:solidFill>
              <a:srgbClr val="6c63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731520" y="210312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c63ff"/>
                </a:solidFill>
                <a:latin typeface="Calibri"/>
                <a:ea typeface="Calibri"/>
              </a:rPr>
              <a:t>[INSERT LOO COMPARISON BARPLOT HERE]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731520" y="43891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Does network-level analysis outperform ROI-level or PCA?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Trebuchet MS"/>
                <a:ea typeface="Trebuchet MS"/>
              </a:rPr>
              <a:t>Yeo-7 Network Reference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457200" y="960120"/>
            <a:ext cx="456840" cy="365400"/>
          </a:xfrm>
          <a:prstGeom prst="rect">
            <a:avLst/>
          </a:prstGeom>
          <a:solidFill>
            <a:srgbClr val="7812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1097280" y="9144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Visual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4297680" y="914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Primary and associative visual cortex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457200" y="1508760"/>
            <a:ext cx="456840" cy="365400"/>
          </a:xfrm>
          <a:prstGeom prst="rect">
            <a:avLst/>
          </a:prstGeom>
          <a:solidFill>
            <a:srgbClr val="4682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1097280" y="1463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Somatomotor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4297680" y="14630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Primary motor and somatosensory cortex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457200" y="2057400"/>
            <a:ext cx="456840" cy="365400"/>
          </a:xfrm>
          <a:prstGeom prst="rect">
            <a:avLst/>
          </a:prstGeom>
          <a:solidFill>
            <a:srgbClr val="0076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1097280" y="20116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Dorsal Attention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4297680" y="20116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Top-down attention, FEF, IPS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0"/>
          <p:cNvSpPr/>
          <p:nvPr/>
        </p:nvSpPr>
        <p:spPr>
          <a:xfrm>
            <a:off x="457200" y="2606040"/>
            <a:ext cx="456840" cy="365400"/>
          </a:xfrm>
          <a:prstGeom prst="rect">
            <a:avLst/>
          </a:prstGeom>
          <a:solidFill>
            <a:srgbClr val="c43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1097280" y="256032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Salience/Ventral Attention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4297680" y="2560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Insula, ACC, ventral attention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3"/>
          <p:cNvSpPr/>
          <p:nvPr/>
        </p:nvSpPr>
        <p:spPr>
          <a:xfrm>
            <a:off x="457200" y="3154680"/>
            <a:ext cx="456840" cy="365400"/>
          </a:xfrm>
          <a:prstGeom prst="rect">
            <a:avLst/>
          </a:prstGeom>
          <a:solidFill>
            <a:srgbClr val="9cb8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1097280" y="31089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Limbic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4297680" y="31089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OFC, temporal pole — emotion/memory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6"/>
          <p:cNvSpPr/>
          <p:nvPr/>
        </p:nvSpPr>
        <p:spPr>
          <a:xfrm>
            <a:off x="457200" y="3703320"/>
            <a:ext cx="456840" cy="365400"/>
          </a:xfrm>
          <a:prstGeom prst="rect">
            <a:avLst/>
          </a:prstGeom>
          <a:solidFill>
            <a:srgbClr val="e694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1097280" y="36576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Frontoparietal Control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8"/>
          <p:cNvSpPr/>
          <p:nvPr/>
        </p:nvSpPr>
        <p:spPr>
          <a:xfrm>
            <a:off x="4297680" y="36576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DLPFC, lateral parietal — executive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9"/>
          <p:cNvSpPr/>
          <p:nvPr/>
        </p:nvSpPr>
        <p:spPr>
          <a:xfrm>
            <a:off x="457200" y="4251960"/>
            <a:ext cx="456840" cy="365400"/>
          </a:xfrm>
          <a:prstGeom prst="rect">
            <a:avLst/>
          </a:prstGeom>
          <a:solidFill>
            <a:srgbClr val="cd3e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1097280" y="42062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Default Mode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1"/>
          <p:cNvSpPr/>
          <p:nvPr/>
        </p:nvSpPr>
        <p:spPr>
          <a:xfrm>
            <a:off x="4297680" y="4206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mPFC, PCC, angular gyrus — self-referential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22"/>
          <p:cNvSpPr/>
          <p:nvPr/>
        </p:nvSpPr>
        <p:spPr>
          <a:xfrm>
            <a:off x="457200" y="4663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Schaefer 200 parcels mapped to 7 canonical resting-state networks (Yeo et al., 2011)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93b"/>
                </a:solidFill>
                <a:latin typeface="Trebuchet MS"/>
                <a:ea typeface="Trebuchet MS"/>
              </a:rPr>
              <a:t>Why </a:t>
            </a:r>
            <a:r>
              <a:rPr b="1" i="1" lang="en-US" sz="2800" spc="-1" strike="noStrike">
                <a:solidFill>
                  <a:srgbClr val="6f55d6"/>
                </a:solidFill>
                <a:latin typeface="Trebuchet MS"/>
                <a:ea typeface="Trebuchet MS"/>
              </a:rPr>
              <a:t>CorticalFields</a:t>
            </a:r>
            <a:r>
              <a:rPr b="1" lang="en-US" sz="2800" spc="-1" strike="noStrike">
                <a:solidFill>
                  <a:srgbClr val="1e293b"/>
                </a:solidFill>
                <a:latin typeface="Trebuchet MS"/>
                <a:ea typeface="Trebuchet MS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3" name="Table 0"/>
          <p:cNvGraphicFramePr/>
          <p:nvPr/>
        </p:nvGraphicFramePr>
        <p:xfrm>
          <a:off x="637200" y="914400"/>
          <a:ext cx="8229240" cy="324612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554480"/>
                <a:gridCol w="219456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</a:rPr>
                        <a:t>Feature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FreeSurfer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BrainStat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CorticalFields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Spectral descriptors (HKS/WKS/GPS)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Geodesic-aware GP kernel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Normative modeling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(linear)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 </a:t>
                      </a: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(GP spectral)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Surprise maps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MSN construction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SSN (spectral similarity)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 </a:t>
                      </a: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(novelty)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Yeo-7 / Schaefer aggregation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FreeSurfer I/O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GPU-accelerated training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✓ </a:t>
                      </a:r>
                      <a:r>
                        <a:rPr b="1" lang="en-US" sz="1000" spc="-1" strike="noStrike">
                          <a:solidFill>
                            <a:srgbClr val="6c63ff"/>
                          </a:solidFill>
                          <a:latin typeface="Calibri"/>
                        </a:rPr>
                        <a:t>(PyTorch with CUDA)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4" name="Text 1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Image 0" descr="preencoded.png"/>
          <p:cNvPicPr/>
          <p:nvPr/>
        </p:nvPicPr>
        <p:blipFill>
          <a:blip r:embed="rId1"/>
          <a:stretch/>
        </p:blipFill>
        <p:spPr>
          <a:xfrm>
            <a:off x="4114800" y="56520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287" name="Text 1"/>
          <p:cNvSpPr/>
          <p:nvPr/>
        </p:nvSpPr>
        <p:spPr>
          <a:xfrm>
            <a:off x="457200" y="1479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Trebuchet MS"/>
                <a:ea typeface="Trebuchet MS"/>
              </a:rPr>
              <a:t>Get Started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2"/>
          <p:cNvSpPr/>
          <p:nvPr/>
        </p:nvSpPr>
        <p:spPr>
          <a:xfrm>
            <a:off x="1371600" y="2103120"/>
            <a:ext cx="6400800" cy="639720"/>
          </a:xfrm>
          <a:prstGeom prst="rect">
            <a:avLst/>
          </a:prstGeom>
          <a:solidFill>
            <a:srgbClr val="1e1e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1371600" y="210312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bfa5"/>
                </a:solidFill>
                <a:latin typeface="Consolas"/>
                <a:ea typeface="Consolas"/>
              </a:rPr>
              <a:t>pip install git+https://github.com/rdneuro/corticalfields.git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4"/>
          <p:cNvSpPr/>
          <p:nvPr/>
        </p:nvSpPr>
        <p:spPr>
          <a:xfrm>
            <a:off x="1576800" y="2909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fa5"/>
                </a:solidFill>
                <a:latin typeface="Trebuchet MS"/>
                <a:ea typeface="Trebuchet MS"/>
              </a:rPr>
              <a:t>Python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3588480" y="2909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≥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3.11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6"/>
          <p:cNvSpPr/>
          <p:nvPr/>
        </p:nvSpPr>
        <p:spPr>
          <a:xfrm>
            <a:off x="1576800" y="32295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fa5"/>
                </a:solidFill>
                <a:latin typeface="Trebuchet MS"/>
                <a:ea typeface="Trebuchet MS"/>
              </a:rPr>
              <a:t>Core deps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7"/>
          <p:cNvSpPr/>
          <p:nvPr/>
        </p:nvSpPr>
        <p:spPr>
          <a:xfrm>
            <a:off x="3588480" y="32295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numpy, scipy, nibabel (lightweight)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8"/>
          <p:cNvSpPr/>
          <p:nvPr/>
        </p:nvSpPr>
        <p:spPr>
          <a:xfrm>
            <a:off x="1576800" y="3549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fa5"/>
                </a:solidFill>
                <a:latin typeface="Trebuchet MS"/>
                <a:ea typeface="Trebuchet MS"/>
              </a:rPr>
              <a:t>GP modeling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3588480" y="3549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torch, gpytorch (CUDA optional)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10"/>
          <p:cNvSpPr/>
          <p:nvPr/>
        </p:nvSpPr>
        <p:spPr>
          <a:xfrm>
            <a:off x="1576800" y="38696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fa5"/>
                </a:solidFill>
                <a:latin typeface="Trebuchet MS"/>
                <a:ea typeface="Trebuchet MS"/>
              </a:rPr>
              <a:t>Graph analysis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1"/>
          <p:cNvSpPr/>
          <p:nvPr/>
        </p:nvSpPr>
        <p:spPr>
          <a:xfrm>
            <a:off x="3588480" y="3869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networkx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2"/>
          <p:cNvSpPr/>
          <p:nvPr/>
        </p:nvSpPr>
        <p:spPr>
          <a:xfrm>
            <a:off x="1576800" y="4189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fa5"/>
                </a:solidFill>
                <a:latin typeface="Trebuchet MS"/>
                <a:ea typeface="Trebuchet MS"/>
              </a:rPr>
              <a:t>Input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13"/>
          <p:cNvSpPr/>
          <p:nvPr/>
        </p:nvSpPr>
        <p:spPr>
          <a:xfrm>
            <a:off x="3588480" y="4189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FreeSurfer or FastSurfer </a:t>
            </a:r>
            <a:r>
              <a:rPr b="1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recon-all pipeline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 outputs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4"/>
          <p:cNvSpPr/>
          <p:nvPr/>
        </p:nvSpPr>
        <p:spPr>
          <a:xfrm>
            <a:off x="120600" y="4771440"/>
            <a:ext cx="891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 u="sng">
                <a:solidFill>
                  <a:srgbClr val="94a3b8"/>
                </a:solidFill>
                <a:uFillTx/>
                <a:latin typeface="Calibri"/>
                <a:ea typeface="Calibri"/>
              </a:rPr>
              <a:t>Free and Open Source</a:t>
            </a: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· MIT license ·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Contributions are always very welcome!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19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6c6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3" name="Image 0" descr="preencoded.png"/>
          <p:cNvPicPr/>
          <p:nvPr/>
        </p:nvPicPr>
        <p:blipFill>
          <a:blip r:embed="rId1"/>
          <a:stretch/>
        </p:blipFill>
        <p:spPr>
          <a:xfrm>
            <a:off x="3886200" y="875520"/>
            <a:ext cx="1371240" cy="1371240"/>
          </a:xfrm>
          <a:prstGeom prst="rect">
            <a:avLst/>
          </a:prstGeom>
          <a:ln w="0">
            <a:noFill/>
          </a:ln>
        </p:spPr>
      </p:pic>
      <p:sp>
        <p:nvSpPr>
          <p:cNvPr id="304" name="Text 1"/>
          <p:cNvSpPr/>
          <p:nvPr/>
        </p:nvSpPr>
        <p:spPr>
          <a:xfrm>
            <a:off x="457200" y="24300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rebuchet MS"/>
                <a:ea typeface="Trebuchet MS"/>
              </a:rPr>
              <a:t>Thank you!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457200" y="307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Calibri"/>
                <a:ea typeface="Calibri"/>
              </a:rPr>
              <a:t>Questions?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6" name="Image 1" descr="preencoded.png"/>
          <p:cNvPicPr/>
          <p:nvPr/>
        </p:nvPicPr>
        <p:blipFill>
          <a:blip r:embed="rId2"/>
          <a:stretch/>
        </p:blipFill>
        <p:spPr>
          <a:xfrm>
            <a:off x="3108960" y="37850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07" name="Text 3"/>
          <p:cNvSpPr/>
          <p:nvPr/>
        </p:nvSpPr>
        <p:spPr>
          <a:xfrm>
            <a:off x="3366720" y="37850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bfa5"/>
                </a:solidFill>
                <a:latin typeface="Calibri"/>
                <a:ea typeface="Calibri"/>
              </a:rPr>
              <a:t>github.com/rdneuro/corticalfields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457200" y="43542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Rodrigo Debona [</a:t>
            </a: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doctorate candidate at </a:t>
            </a: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INNT/UFRJ</a:t>
            </a: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]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  <a:hlinkClick r:id="rId3"/>
              </a:rPr>
              <a:t>r.debona@ufrj.br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20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2026-03-23T12:43:26Z</dcterms:created>
  <dc:creator>Velho Mago (rdneuro)</dc:creator>
  <dc:description/>
  <dc:language>en-US</dc:language>
  <cp:lastModifiedBy/>
  <dcterms:modified xsi:type="dcterms:W3CDTF">2026-03-23T10:46:50Z</dcterms:modified>
  <cp:revision>12</cp:revision>
  <dc:subject>PptxGenJS Presentation</dc:subject>
  <dc:title>CorticalFields — Geodesic-aware GP normative modeling on cortical surfaces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